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0A3D47"/>
                </a:solidFill>
                <a:latin typeface="Helvetica Neue"/>
              </a:rPr>
              <a:t>Vitalog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72" y="365760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2054" y="45034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0926" y="340614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9798" y="249174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774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Vitalog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Vitalog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Helvetica Neue"/>
              </a:rPr>
              <a:t>Your lab results.
Unified. Intelligent.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2D4DB"/>
                </a:solidFill>
                <a:latin typeface="Helvetica Neue"/>
              </a:rPr>
              <a:t>Upload any lab PDF. Ask anything. Get a citation-verified summary.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elvetica Neue"/>
              </a:rPr>
              <a:t>100x Engineers — Applied AI Mastery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92608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6334" y="377190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5206" y="26746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078" y="17602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45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Vitalog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5D4A"/>
                </a:solidFill>
                <a:latin typeface="Helvetica Neue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144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4F5C"/>
                </a:solidFill>
                <a:latin typeface="Helvetica Neue"/>
              </a:rPr>
              <a:t>Your lab results are scattered.
Your doctor has 11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77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C1C1E"/>
                </a:solidFill>
                <a:latin typeface="Helvetica Neue"/>
              </a:rPr>
              <a:t>• Patients managing chronic conditions see multiple specialists — each with their own portal and paper reports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1C1E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C1C1E"/>
                </a:solidFill>
                <a:latin typeface="Helvetica Neue"/>
              </a:rPr>
              <a:t>• Every appointment starts with 11 minutes of piecing together history the patient already lived through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1C1E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C1C1E"/>
                </a:solidFill>
                <a:latin typeface="Helvetica Neue"/>
              </a:rPr>
              <a:t>• The data exists. It's trapped across labs, PDFs, and memory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1C1E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C1C1E"/>
                </a:solidFill>
                <a:latin typeface="Helvetica Neue"/>
              </a:rPr>
              <a:t>• Patients arrive unprepared. Doctors spend time on logistics instead of care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1C1E"/>
                </a:solidFill>
                <a:latin typeface="Helvetica Neue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303520"/>
            <a:ext cx="11338560" cy="914400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766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0D4F5C"/>
                </a:solidFill>
                <a:latin typeface="Helvetica Neue"/>
              </a:rPr>
              <a:t>"I have results from three different labs and I never know what to bring to my appointment."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92608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6334" y="377190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5206" y="26746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078" y="17602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45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Vitalog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5D4A"/>
                </a:solidFill>
                <a:latin typeface="Helvetica Neue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144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4F5C"/>
                </a:solidFill>
                <a:latin typeface="Helvetica Neue"/>
              </a:rPr>
              <a:t>Vitalog turns scattered lab reports into
a unified, intelligent health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31720"/>
            <a:ext cx="2651760" cy="2286000"/>
          </a:xfrm>
          <a:prstGeom prst="rect">
            <a:avLst/>
          </a:prstGeom>
          <a:solidFill>
            <a:srgbClr val="E0F0F3"/>
          </a:solidFill>
          <a:ln w="9525">
            <a:solidFill>
              <a:srgbClr val="0D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4A"/>
                </a:solidFill>
                <a:latin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F5C"/>
                </a:solidFill>
                <a:latin typeface="Helvetica Neue"/>
              </a:rP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C1C1E"/>
                </a:solidFill>
                <a:latin typeface="Helvetica Neue"/>
              </a:rPr>
              <a:t>Any lab PDF via URL, file, or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3154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331720"/>
            <a:ext cx="2651760" cy="2286000"/>
          </a:xfrm>
          <a:prstGeom prst="rect">
            <a:avLst/>
          </a:prstGeom>
          <a:solidFill>
            <a:srgbClr val="E0F0F3"/>
          </a:solidFill>
          <a:ln w="9525">
            <a:solidFill>
              <a:srgbClr val="0D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4A"/>
                </a:solidFill>
                <a:latin typeface="Helvetica Neu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F5C"/>
                </a:solidFill>
                <a:latin typeface="Helvetica Neue"/>
              </a:rPr>
              <a:t>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3832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C1C1E"/>
                </a:solidFill>
                <a:latin typeface="Helvetica Neue"/>
              </a:rPr>
              <a:t>AWS Textract + Claude Vision OCR every biomarker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3154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331720"/>
            <a:ext cx="2651760" cy="2286000"/>
          </a:xfrm>
          <a:prstGeom prst="rect">
            <a:avLst/>
          </a:prstGeom>
          <a:solidFill>
            <a:srgbClr val="E0F0F3"/>
          </a:solidFill>
          <a:ln w="9525">
            <a:solidFill>
              <a:srgbClr val="0D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4A"/>
                </a:solidFill>
                <a:latin typeface="Helvetica Neu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F5C"/>
                </a:solidFill>
                <a:latin typeface="Helvetica Neue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832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C1C1E"/>
                </a:solidFill>
                <a:latin typeface="Helvetica Neue"/>
              </a:rPr>
              <a:t>Natural language queries grounded in your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3154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331720"/>
            <a:ext cx="2651760" cy="2286000"/>
          </a:xfrm>
          <a:prstGeom prst="rect">
            <a:avLst/>
          </a:prstGeom>
          <a:solidFill>
            <a:srgbClr val="E0F0F3"/>
          </a:solidFill>
          <a:ln w="9525">
            <a:solidFill>
              <a:srgbClr val="0D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4A"/>
                </a:solidFill>
                <a:latin typeface="Helvetica Neu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4F5C"/>
                </a:solidFill>
                <a:latin typeface="Helvetica Neue"/>
              </a:rPr>
              <a:t>Summarise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3832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C1C1E"/>
                </a:solidFill>
                <a:latin typeface="Helvetica Neue"/>
              </a:rPr>
              <a:t>Citation-verified one-page summary for your doctor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029200"/>
            <a:ext cx="11338560" cy="502920"/>
          </a:xfrm>
          <a:prstGeom prst="rect">
            <a:avLst/>
          </a:prstGeom>
          <a:solidFill>
            <a:srgbClr val="FFF3F2"/>
          </a:solidFill>
          <a:ln w="9525">
            <a:solidFill>
              <a:srgbClr val="E85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0932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2A1F"/>
                </a:solidFill>
                <a:latin typeface="Helvetica Neue"/>
              </a:rPr>
              <a:t>Hard constraint: Vitalog provides information, not advice. No diagnoses. No medication recommendations. No dietary prescriptions. Every number traces back to the source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92608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6334" y="377190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5206" y="26746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078" y="17602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45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Vitalog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5D4A"/>
                </a:solidFill>
                <a:latin typeface="Helvetica Neue"/>
              </a:rPr>
              <a:t>PRODUCT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D4F5C"/>
                </a:solidFill>
                <a:latin typeface="Helvetica Neue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202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E"/>
                </a:solidFill>
                <a:latin typeface="Helvetica Neue"/>
              </a:rPr>
              <a:t>→  Upload 2 real lab reports via URL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0604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9748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E"/>
                </a:solidFill>
                <a:latin typeface="Helvetica Neue"/>
              </a:rPr>
              <a:t>→  Pending queue: unknown biomarker resolved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8328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4747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E"/>
                </a:solidFill>
                <a:latin typeface="Helvetica Neue"/>
              </a:rPr>
              <a:t>→  Full biomarker list across both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6052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25196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E"/>
                </a:solidFill>
                <a:latin typeface="Helvetica Neue"/>
              </a:rPr>
              <a:t>→  Trends: HbA1c, cholesterol, kidney, thyroid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3776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2024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E"/>
                </a:solidFill>
                <a:latin typeface="Helvetica Neue"/>
              </a:rPr>
              <a:t>→  Natural language: "How is my kidney function?"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60604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9748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E"/>
                </a:solidFill>
                <a:latin typeface="Helvetica Neue"/>
              </a:rPr>
              <a:t>→  One-page summary — every number citation-verified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8328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47472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E"/>
                </a:solidFill>
                <a:latin typeface="Helvetica Neue"/>
              </a:rPr>
              <a:t>→  Export as PDF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16052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25196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E"/>
                </a:solidFill>
                <a:latin typeface="Helvetica Neue"/>
              </a:rPr>
              <a:t>→  Guardrails: diet / medication / appointment queries declined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93776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3093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B80"/>
                </a:solidFill>
                <a:latin typeface="Helvetica Neue"/>
              </a:rPr>
              <a:t>Interface: Claude Desktop  ·  Transport: MCP over SSE  ·  Server: Render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92608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6334" y="377190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5206" y="26746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078" y="17602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45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Vitalog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5D4A"/>
                </a:solidFill>
                <a:latin typeface="Helvetica Neue"/>
              </a:rPr>
              <a:t>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144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4F5C"/>
                </a:solidFill>
                <a:latin typeface="Helvetica Neue"/>
              </a:rPr>
              <a:t>Built, deployed, and working on real lab reports.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57400"/>
            <a:ext cx="2560320" cy="1371600"/>
          </a:xfrm>
          <a:prstGeom prst="rect">
            <a:avLst/>
          </a:prstGeom>
          <a:solidFill>
            <a:srgbClr val="E0F0F3"/>
          </a:solidFill>
          <a:ln w="6350">
            <a:solidFill>
              <a:srgbClr val="0D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94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5D4A"/>
                </a:solidFill>
                <a:latin typeface="Helvetica Neue"/>
              </a:rP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4F5C"/>
                </a:solidFill>
                <a:latin typeface="Helvetica Neue"/>
              </a:rPr>
              <a:t>biomarker records
extracted from real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0984" y="2057400"/>
            <a:ext cx="2560320" cy="1371600"/>
          </a:xfrm>
          <a:prstGeom prst="rect">
            <a:avLst/>
          </a:prstGeom>
          <a:solidFill>
            <a:srgbClr val="E0F0F3"/>
          </a:solidFill>
          <a:ln w="6350">
            <a:solidFill>
              <a:srgbClr val="0D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2194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5D4A"/>
                </a:solidFill>
                <a:latin typeface="Helvetica Neue"/>
              </a:rPr>
              <a:t>65+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984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4F5C"/>
                </a:solidFill>
                <a:latin typeface="Helvetica Neue"/>
              </a:rPr>
              <a:t>unique biomarker types
recognised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057400"/>
            <a:ext cx="2560320" cy="1371600"/>
          </a:xfrm>
          <a:prstGeom prst="rect">
            <a:avLst/>
          </a:prstGeom>
          <a:solidFill>
            <a:srgbClr val="E0F0F3"/>
          </a:solidFill>
          <a:ln w="6350">
            <a:solidFill>
              <a:srgbClr val="0D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2194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5D4A"/>
                </a:solidFill>
                <a:latin typeface="Helvetica Neue"/>
              </a:rPr>
              <a:t>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4F5C"/>
                </a:solidFill>
                <a:latin typeface="Helvetica Neue"/>
              </a:rPr>
              <a:t>biomarkers in taxonomy
across 9 conditions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9992" y="2057400"/>
            <a:ext cx="2560320" cy="1371600"/>
          </a:xfrm>
          <a:prstGeom prst="rect">
            <a:avLst/>
          </a:prstGeom>
          <a:solidFill>
            <a:srgbClr val="E0F0F3"/>
          </a:solidFill>
          <a:ln w="6350">
            <a:solidFill>
              <a:srgbClr val="0D4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2194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5D4A"/>
                </a:solidFill>
                <a:latin typeface="Helvetica Neue"/>
              </a:rPr>
              <a:t>30 / 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4F5C"/>
                </a:solidFill>
                <a:latin typeface="Helvetica Neue"/>
              </a:rPr>
              <a:t>stories shipped
in ~3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94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C1C1E"/>
                </a:solidFill>
                <a:latin typeface="Helvetica Neue"/>
              </a:rPr>
              <a:t>• Live on Render with OAuth 2.0 — not a local notebook demo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C1E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1C1E"/>
                </a:solidFill>
                <a:latin typeface="Helvetica Neue"/>
              </a:rPr>
              <a:t>• Two-mode citation verification (structured + parse-and-match) — hallucinated biomarker values are architecturally blocked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C1E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1C1E"/>
                </a:solidFill>
                <a:latin typeface="Helvetica Neue"/>
              </a:rPr>
              <a:t>• 20+ adversarial prompts tested — all clinical-advice elicitations blocked without reaching the LLM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C1E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1C1E"/>
                </a:solidFill>
                <a:latin typeface="Helvetica Neue"/>
              </a:rPr>
              <a:t>• Automated PR review on every merge — 47 issues found and fixed before shipping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C1C1E"/>
                </a:solidFill>
                <a:latin typeface="Helvetica Neue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92608"/>
            <a:ext cx="118872" cy="30175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6334" y="377190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5206" y="26746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078" y="176022"/>
            <a:ext cx="50292" cy="5029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45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F5C"/>
                </a:solidFill>
                <a:latin typeface="Helvetica Neue"/>
              </a:rPr>
              <a:t>Vitalog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5D4A"/>
                </a:solidFill>
                <a:latin typeface="Helvetica Neue"/>
              </a:rPr>
              <a:t>BUILD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144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4F5C"/>
                </a:solidFill>
                <a:latin typeface="Helvetica Neue"/>
              </a:rPr>
              <a:t>33 stories · 144 points · ~3 weeks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65960"/>
            <a:ext cx="1280160" cy="384048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025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002536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E"/>
                </a:solidFill>
                <a:latin typeface="Helvetica Neue"/>
              </a:rPr>
              <a:t>Data model · Supabase persistence · 84-biomarker taxonomy · AI Gateway · 3-layer guardrails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624328"/>
            <a:ext cx="1280160" cy="384048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660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60904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E"/>
                </a:solidFill>
                <a:latin typeface="Helvetica Neue"/>
              </a:rPr>
              <a:t>AWS Textract OCR · Vision-LLM fallback · Document classifier · Confidence-band routing · Alias lookup · Unit conversion · Duplicate detection · Pending 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64408"/>
            <a:ext cx="11338560" cy="10972"/>
          </a:xfrm>
          <a:prstGeom prst="rect">
            <a:avLst/>
          </a:prstGeom>
          <a:solidFill>
            <a:srgbClr val="E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282696"/>
            <a:ext cx="1280160" cy="384048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192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319272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E"/>
                </a:solidFill>
                <a:latin typeface="Helvetica Neue"/>
              </a:rPr>
              <a:t>Trend engine · NLQ handler · Observation generator · Citation-verified summary · PDF/MD/JSON export · MCP server · Render deployment · OAuth 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0233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4F5C"/>
                </a:solidFill>
                <a:latin typeface="Helvetica Neue"/>
              </a:rPr>
              <a:t>Hard things that got built: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3891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1C1E"/>
                </a:solidFill>
                <a:latin typeface="Helvetica Neue"/>
              </a:rPr>
              <a:t>• Two citation-verification modes so no hallucinated biomarker value reaches the output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C1C1E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1C1E"/>
                </a:solidFill>
                <a:latin typeface="Helvetica Neue"/>
              </a:rPr>
              <a:t>• Pending taxonomy queue — unknown biomarker names are never silently discarded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C1C1E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1C1E"/>
                </a:solidFill>
                <a:latin typeface="Helvetica Neue"/>
              </a:rPr>
              <a:t>• Architecture doc → acceptance criteria → code → automated review — on every story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C1C1E"/>
                </a:solidFill>
                <a:latin typeface="Helvetica Neue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Vitalog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5D4A"/>
                </a:solidFill>
                <a:latin typeface="Helvetica Neue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5D4A"/>
                </a:solidFill>
                <a:latin typeface="Helvetica Neue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[YOUR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2D4DB"/>
                </a:solidFill>
                <a:latin typeface="Helvetica Neue"/>
              </a:rPr>
              <a:t>[YOUR ROLE / TITLE]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2D4DB"/>
                </a:solidFill>
                <a:latin typeface="Helvetica Neue"/>
              </a:rPr>
              <a:t>[1–2 lines on relevant background / experience]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B0BB"/>
                </a:solidFill>
                <a:latin typeface="Helvetica Neue"/>
              </a:rPr>
              <a:t>Built solo · 100x Engineers Applied AI Mastery cohort ·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vitalog  ·  github.com/sandeepnunna90  ·  vitalog-9z6b.onrender.com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